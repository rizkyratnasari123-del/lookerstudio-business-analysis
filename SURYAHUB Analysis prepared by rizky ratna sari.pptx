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Montserrat" panose="00000500000000000000" pitchFamily="2" charset="0"/>
      <p:regular r:id="rId13"/>
    </p:embeddedFont>
    <p:embeddedFont>
      <p:font typeface="Montserrat Bold" panose="00000800000000000000" charset="0"/>
      <p:regular r:id="rId14"/>
    </p:embeddedFont>
    <p:embeddedFont>
      <p:font typeface="Montserrat Medium" panose="000006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3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6328" y="3559534"/>
            <a:ext cx="11046531" cy="288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sz="5401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SURYAHUB </a:t>
            </a:r>
          </a:p>
          <a:p>
            <a:pPr algn="ctr">
              <a:lnSpc>
                <a:spcPts val="5671"/>
              </a:lnSpc>
            </a:pPr>
            <a:r>
              <a:rPr lang="en-US" sz="5401" b="1">
                <a:solidFill>
                  <a:srgbClr val="3779E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CUSTOMER LOYALTY &amp; PURCHASE BEHAVIOR ANALYSIS</a:t>
            </a:r>
          </a:p>
        </p:txBody>
      </p:sp>
      <p:sp>
        <p:nvSpPr>
          <p:cNvPr id="3" name="Freeform 3"/>
          <p:cNvSpPr/>
          <p:nvPr/>
        </p:nvSpPr>
        <p:spPr>
          <a:xfrm>
            <a:off x="708409" y="8428644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0"/>
                </a:moveTo>
                <a:lnTo>
                  <a:pt x="4763917" y="0"/>
                </a:lnTo>
                <a:lnTo>
                  <a:pt x="4763917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61349" y="6405638"/>
            <a:ext cx="995648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June 2025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917838" y="2649459"/>
            <a:ext cx="7194028" cy="4988082"/>
          </a:xfrm>
          <a:custGeom>
            <a:avLst/>
            <a:gdLst/>
            <a:ahLst/>
            <a:cxnLst/>
            <a:rect l="l" t="t" r="r" b="b"/>
            <a:pathLst>
              <a:path w="7194028" h="4988082">
                <a:moveTo>
                  <a:pt x="0" y="0"/>
                </a:moveTo>
                <a:lnTo>
                  <a:pt x="7194029" y="0"/>
                </a:lnTo>
                <a:lnTo>
                  <a:pt x="7194029" y="4988082"/>
                </a:lnTo>
                <a:lnTo>
                  <a:pt x="0" y="4988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257" t="-16786" r="-1028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62859" y="9782436"/>
            <a:ext cx="6649008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80"/>
              </a:lnSpc>
            </a:pPr>
            <a:r>
              <a:rPr lang="en-US" sz="17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 Prepared by : Rizky Ratna Sari |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805" y="7959505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85607" y="812545"/>
            <a:ext cx="8143492" cy="5553114"/>
          </a:xfrm>
          <a:custGeom>
            <a:avLst/>
            <a:gdLst/>
            <a:ahLst/>
            <a:cxnLst/>
            <a:rect l="l" t="t" r="r" b="b"/>
            <a:pathLst>
              <a:path w="8143492" h="5553114">
                <a:moveTo>
                  <a:pt x="0" y="0"/>
                </a:moveTo>
                <a:lnTo>
                  <a:pt x="8143493" y="0"/>
                </a:lnTo>
                <a:lnTo>
                  <a:pt x="8143493" y="5553113"/>
                </a:lnTo>
                <a:lnTo>
                  <a:pt x="0" y="55531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35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0" y="2558415"/>
            <a:ext cx="6867281" cy="258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Transaction volume increased compared to previous months.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However, revenue per customer remains stagnant.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Marketing efforts are not yet focused on the most valuable customer segments or channels.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779E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1573250"/>
            <a:ext cx="7265449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This Analysis Matters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6169655"/>
            <a:ext cx="6867281" cy="22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endParaRPr/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Is the current loyalty program effective?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Which customer segments and channels should be prioritized to increase repeat purchase and revenue per customer?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3779E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0" y="5561326"/>
            <a:ext cx="7265449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Questions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36382" y="8455282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0"/>
                </a:moveTo>
                <a:lnTo>
                  <a:pt x="4763917" y="0"/>
                </a:lnTo>
                <a:lnTo>
                  <a:pt x="4763917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86110" y="1933663"/>
            <a:ext cx="8743570" cy="4988082"/>
          </a:xfrm>
          <a:custGeom>
            <a:avLst/>
            <a:gdLst/>
            <a:ahLst/>
            <a:cxnLst/>
            <a:rect l="l" t="t" r="r" b="b"/>
            <a:pathLst>
              <a:path w="8743570" h="4988082">
                <a:moveTo>
                  <a:pt x="0" y="0"/>
                </a:moveTo>
                <a:lnTo>
                  <a:pt x="8743570" y="0"/>
                </a:lnTo>
                <a:lnTo>
                  <a:pt x="8743570" y="4988081"/>
                </a:lnTo>
                <a:lnTo>
                  <a:pt x="0" y="4988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78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98128" y="1449686"/>
            <a:ext cx="7140697" cy="5283105"/>
          </a:xfrm>
          <a:custGeom>
            <a:avLst/>
            <a:gdLst/>
            <a:ahLst/>
            <a:cxnLst/>
            <a:rect l="l" t="t" r="r" b="b"/>
            <a:pathLst>
              <a:path w="7140697" h="5283105">
                <a:moveTo>
                  <a:pt x="0" y="0"/>
                </a:moveTo>
                <a:lnTo>
                  <a:pt x="7140697" y="0"/>
                </a:lnTo>
                <a:lnTo>
                  <a:pt x="7140697" y="5283105"/>
                </a:lnTo>
                <a:lnTo>
                  <a:pt x="0" y="5283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2447" b="-1026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28396" y="762903"/>
            <a:ext cx="6658997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3779E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32525" y="6883644"/>
            <a:ext cx="6658997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This dataset summarizes customer activity and purchase behavior for June 2025.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19805" y="7959505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47210" y="5046804"/>
            <a:ext cx="6925386" cy="5825403"/>
          </a:xfrm>
          <a:custGeom>
            <a:avLst/>
            <a:gdLst/>
            <a:ahLst/>
            <a:cxnLst/>
            <a:rect l="l" t="t" r="r" b="b"/>
            <a:pathLst>
              <a:path w="6925386" h="5825403">
                <a:moveTo>
                  <a:pt x="0" y="0"/>
                </a:moveTo>
                <a:lnTo>
                  <a:pt x="6925385" y="0"/>
                </a:lnTo>
                <a:lnTo>
                  <a:pt x="6925385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25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5269" y="2015766"/>
            <a:ext cx="7799782" cy="5196605"/>
          </a:xfrm>
          <a:custGeom>
            <a:avLst/>
            <a:gdLst/>
            <a:ahLst/>
            <a:cxnLst/>
            <a:rect l="l" t="t" r="r" b="b"/>
            <a:pathLst>
              <a:path w="7799782" h="5196605">
                <a:moveTo>
                  <a:pt x="0" y="0"/>
                </a:moveTo>
                <a:lnTo>
                  <a:pt x="7799782" y="0"/>
                </a:lnTo>
                <a:lnTo>
                  <a:pt x="7799782" y="5196604"/>
                </a:lnTo>
                <a:lnTo>
                  <a:pt x="0" y="5196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64739" y="156845"/>
            <a:ext cx="10989145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3779E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CUSTOMER DEMOGRAPHICS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34285" y="2181579"/>
            <a:ext cx="7702097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Younger Customers (18–24) Show the Highest Average Purchase Value</a:t>
            </a:r>
          </a:p>
          <a:p>
            <a:pPr algn="ctr">
              <a:lnSpc>
                <a:spcPts val="3359"/>
              </a:lnSpc>
            </a:pPr>
            <a:endParaRPr lang="en-US" sz="2399" b="1">
              <a:solidFill>
                <a:srgbClr val="3779E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359"/>
              </a:lnSpc>
            </a:pPr>
            <a:endParaRPr lang="en-US" sz="2399" b="1">
              <a:solidFill>
                <a:srgbClr val="3779E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278317" y="3323864"/>
            <a:ext cx="5814034" cy="2956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Customers aged 18–24 generate the highest average purchase amount across both genders.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Female customers demonstrate slightly higher transaction activity across age groups.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 This segment represents a key high-value demographic 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19805" y="7959505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47304" y="1463204"/>
            <a:ext cx="8424015" cy="4681193"/>
          </a:xfrm>
          <a:custGeom>
            <a:avLst/>
            <a:gdLst/>
            <a:ahLst/>
            <a:cxnLst/>
            <a:rect l="l" t="t" r="r" b="b"/>
            <a:pathLst>
              <a:path w="8424015" h="4681193">
                <a:moveTo>
                  <a:pt x="0" y="0"/>
                </a:moveTo>
                <a:lnTo>
                  <a:pt x="8424015" y="0"/>
                </a:lnTo>
                <a:lnTo>
                  <a:pt x="8424015" y="4681193"/>
                </a:lnTo>
                <a:lnTo>
                  <a:pt x="0" y="4681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71319" y="3996912"/>
            <a:ext cx="3900395" cy="6356958"/>
          </a:xfrm>
          <a:custGeom>
            <a:avLst/>
            <a:gdLst/>
            <a:ahLst/>
            <a:cxnLst/>
            <a:rect l="l" t="t" r="r" b="b"/>
            <a:pathLst>
              <a:path w="3900395" h="6356958">
                <a:moveTo>
                  <a:pt x="0" y="0"/>
                </a:moveTo>
                <a:lnTo>
                  <a:pt x="3900394" y="0"/>
                </a:lnTo>
                <a:lnTo>
                  <a:pt x="3900394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58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64739" y="175895"/>
            <a:ext cx="1098914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5200" b="1">
                <a:solidFill>
                  <a:srgbClr val="3779E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GEOGRAPHIC PERFORMANCE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56745" y="6748671"/>
            <a:ext cx="8774510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Is Concentrated in Major Urban Locations</a:t>
            </a:r>
          </a:p>
          <a:p>
            <a:pPr algn="ctr">
              <a:lnSpc>
                <a:spcPts val="3359"/>
              </a:lnSpc>
            </a:pPr>
            <a:endParaRPr lang="en-US" sz="2399" b="1">
              <a:solidFill>
                <a:srgbClr val="3779E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952024" y="7525912"/>
            <a:ext cx="8383951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Customer revenue is concentrated in a few major cities.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Top locations include Jakarta, Makassar, Surabaya, Bandung, and Medan.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These cities show strong potential for location-based marketing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8660" y="1498185"/>
            <a:ext cx="7854441" cy="5369621"/>
          </a:xfrm>
          <a:custGeom>
            <a:avLst/>
            <a:gdLst/>
            <a:ahLst/>
            <a:cxnLst/>
            <a:rect l="l" t="t" r="r" b="b"/>
            <a:pathLst>
              <a:path w="7854441" h="5369621">
                <a:moveTo>
                  <a:pt x="0" y="0"/>
                </a:moveTo>
                <a:lnTo>
                  <a:pt x="7854441" y="0"/>
                </a:lnTo>
                <a:lnTo>
                  <a:pt x="7854441" y="5369620"/>
                </a:lnTo>
                <a:lnTo>
                  <a:pt x="0" y="536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61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6020" y="6867805"/>
            <a:ext cx="5183909" cy="3629108"/>
          </a:xfrm>
          <a:custGeom>
            <a:avLst/>
            <a:gdLst/>
            <a:ahLst/>
            <a:cxnLst/>
            <a:rect l="l" t="t" r="r" b="b"/>
            <a:pathLst>
              <a:path w="5183909" h="3629108">
                <a:moveTo>
                  <a:pt x="0" y="0"/>
                </a:moveTo>
                <a:lnTo>
                  <a:pt x="5183908" y="0"/>
                </a:lnTo>
                <a:lnTo>
                  <a:pt x="5183908" y="3629108"/>
                </a:lnTo>
                <a:lnTo>
                  <a:pt x="0" y="36291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07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09497" y="554038"/>
            <a:ext cx="1311882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3779E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LOYALTY PROGRAM EFFECTIVENESS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53101" y="2351627"/>
            <a:ext cx="857923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Current Loyalty Program Shows Limited Impact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33680" y="3550374"/>
            <a:ext cx="7214741" cy="304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Loyalty program members </a:t>
            </a: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 not significantly outperform </a:t>
            </a:r>
            <a:r>
              <a:rPr lang="en-US" sz="2499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non-members.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No meaningful difference in average purchase amount or purchase frequency.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This </a:t>
            </a: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suggests</a:t>
            </a:r>
            <a:r>
              <a:rPr lang="en-US" sz="2499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 the current loyalty program </a:t>
            </a: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lacks strong incentives to drive repeat purchase</a:t>
            </a:r>
            <a:r>
              <a:rPr lang="en-US" sz="2499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7305" y="5937132"/>
            <a:ext cx="4940856" cy="4608471"/>
          </a:xfrm>
          <a:custGeom>
            <a:avLst/>
            <a:gdLst/>
            <a:ahLst/>
            <a:cxnLst/>
            <a:rect l="l" t="t" r="r" b="b"/>
            <a:pathLst>
              <a:path w="4940856" h="4608471">
                <a:moveTo>
                  <a:pt x="0" y="0"/>
                </a:moveTo>
                <a:lnTo>
                  <a:pt x="4940856" y="0"/>
                </a:lnTo>
                <a:lnTo>
                  <a:pt x="4940856" y="4608472"/>
                </a:lnTo>
                <a:lnTo>
                  <a:pt x="0" y="4608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946455"/>
            <a:ext cx="8950049" cy="6496004"/>
          </a:xfrm>
          <a:custGeom>
            <a:avLst/>
            <a:gdLst/>
            <a:ahLst/>
            <a:cxnLst/>
            <a:rect l="l" t="t" r="r" b="b"/>
            <a:pathLst>
              <a:path w="8950049" h="6496004">
                <a:moveTo>
                  <a:pt x="0" y="0"/>
                </a:moveTo>
                <a:lnTo>
                  <a:pt x="8950049" y="0"/>
                </a:lnTo>
                <a:lnTo>
                  <a:pt x="8950049" y="6496004"/>
                </a:lnTo>
                <a:lnTo>
                  <a:pt x="0" y="64960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76675" y="521515"/>
            <a:ext cx="10134650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5400" b="1">
                <a:solidFill>
                  <a:srgbClr val="3779E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PURCHASE INTENT INSIGHT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0049" y="2442446"/>
            <a:ext cx="877451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Planned Buyers Drive Higher Value and Frequency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88870" y="3301365"/>
            <a:ext cx="8144716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Planned buyers generate the highest average purchase amount.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They also show the highest purchase frequency.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Revenue is driven more by intentional purchases than impulsive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34879" y="1659078"/>
            <a:ext cx="8029382" cy="5079402"/>
          </a:xfrm>
          <a:custGeom>
            <a:avLst/>
            <a:gdLst/>
            <a:ahLst/>
            <a:cxnLst/>
            <a:rect l="l" t="t" r="r" b="b"/>
            <a:pathLst>
              <a:path w="8029382" h="5079402">
                <a:moveTo>
                  <a:pt x="0" y="0"/>
                </a:moveTo>
                <a:lnTo>
                  <a:pt x="8029383" y="0"/>
                </a:lnTo>
                <a:lnTo>
                  <a:pt x="8029383" y="5079402"/>
                </a:lnTo>
                <a:lnTo>
                  <a:pt x="0" y="5079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23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3158" y="6058204"/>
            <a:ext cx="5710063" cy="4570911"/>
          </a:xfrm>
          <a:custGeom>
            <a:avLst/>
            <a:gdLst/>
            <a:ahLst/>
            <a:cxnLst/>
            <a:rect l="l" t="t" r="r" b="b"/>
            <a:pathLst>
              <a:path w="5710063" h="4570911">
                <a:moveTo>
                  <a:pt x="0" y="0"/>
                </a:moveTo>
                <a:lnTo>
                  <a:pt x="5710063" y="0"/>
                </a:lnTo>
                <a:lnTo>
                  <a:pt x="5710063" y="4570911"/>
                </a:lnTo>
                <a:lnTo>
                  <a:pt x="0" y="4570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46" r="-94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07622" y="738963"/>
            <a:ext cx="9672755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5400" b="1">
                <a:solidFill>
                  <a:srgbClr val="3779E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CHANNEL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67915" y="7064134"/>
            <a:ext cx="9970684" cy="127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Omnichannel Customers Deliver Higher Overall Value</a:t>
            </a:r>
          </a:p>
          <a:p>
            <a:pPr algn="ctr">
              <a:lnSpc>
                <a:spcPts val="3359"/>
              </a:lnSpc>
            </a:pPr>
            <a:endParaRPr lang="en-US" sz="2599" b="1">
              <a:solidFill>
                <a:srgbClr val="3779E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359"/>
              </a:lnSpc>
            </a:pPr>
            <a:endParaRPr lang="en-US" sz="2599" b="1">
              <a:solidFill>
                <a:srgbClr val="3779E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480899" y="7689610"/>
            <a:ext cx="8144716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Mixed-channel customers generate the highest purchase value.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In-store customers show the highest purchase frequency.</a:t>
            </a:r>
          </a:p>
          <a:p>
            <a:pPr marL="453392" lvl="1" indent="-226696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Channel flexibility supports repeat purchasing behavior.</a:t>
            </a:r>
          </a:p>
        </p:txBody>
      </p:sp>
      <p:sp>
        <p:nvSpPr>
          <p:cNvPr id="7" name="Freeform 7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71331" y="5143500"/>
            <a:ext cx="5442130" cy="5825403"/>
          </a:xfrm>
          <a:custGeom>
            <a:avLst/>
            <a:gdLst/>
            <a:ahLst/>
            <a:cxnLst/>
            <a:rect l="l" t="t" r="r" b="b"/>
            <a:pathLst>
              <a:path w="5442130" h="5825403">
                <a:moveTo>
                  <a:pt x="0" y="0"/>
                </a:moveTo>
                <a:lnTo>
                  <a:pt x="5442130" y="0"/>
                </a:lnTo>
                <a:lnTo>
                  <a:pt x="544213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40" r="-3912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20061" y="1534900"/>
            <a:ext cx="11897638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RECOMMENDATIONS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10433" y="3544974"/>
            <a:ext cx="9840344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Actionable Recommendations</a:t>
            </a:r>
          </a:p>
          <a:p>
            <a:pPr algn="ctr">
              <a:lnSpc>
                <a:spcPts val="5040"/>
              </a:lnSpc>
            </a:pPr>
            <a:endParaRPr lang="en-US" sz="3600" b="1">
              <a:solidFill>
                <a:srgbClr val="3779E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681690" y="4758459"/>
            <a:ext cx="11135151" cy="304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Redesign the loyalty program with value-based rewards instead of discounts.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campaigns on high-value younger customers (18–24).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Activate planned buyers through bundles and scheduled promotions.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Strengthen omnichannel integration between online and in-store channels.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5701453" y="-751242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9"/>
                </a:moveTo>
                <a:lnTo>
                  <a:pt x="4763917" y="2381959"/>
                </a:lnTo>
                <a:lnTo>
                  <a:pt x="4763917" y="0"/>
                </a:lnTo>
                <a:lnTo>
                  <a:pt x="0" y="0"/>
                </a:lnTo>
                <a:lnTo>
                  <a:pt x="0" y="23819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08381" y="1630717"/>
            <a:ext cx="7479619" cy="5654864"/>
          </a:xfrm>
          <a:custGeom>
            <a:avLst/>
            <a:gdLst/>
            <a:ahLst/>
            <a:cxnLst/>
            <a:rect l="l" t="t" r="r" b="b"/>
            <a:pathLst>
              <a:path w="7479619" h="5654864">
                <a:moveTo>
                  <a:pt x="0" y="0"/>
                </a:moveTo>
                <a:lnTo>
                  <a:pt x="7479619" y="0"/>
                </a:lnTo>
                <a:lnTo>
                  <a:pt x="7479619" y="5654864"/>
                </a:lnTo>
                <a:lnTo>
                  <a:pt x="0" y="5654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68" r="-350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156054"/>
            <a:ext cx="10513256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INSIGHTS TO ACTION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96373"/>
            <a:ext cx="4354769" cy="623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3664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Expected Impact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1245" y="3391024"/>
            <a:ext cx="6135145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Increased repeat purchase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Improved revenue per customer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Stronger customer retention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1245" y="5490476"/>
            <a:ext cx="2816376" cy="623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3664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Steps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285127"/>
            <a:ext cx="11135151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Run a 4-week campaign test in July 2025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Measure purchase frequency and revenue per customer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377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Scale high-performing strategies</a:t>
            </a:r>
          </a:p>
        </p:txBody>
      </p:sp>
      <p:sp>
        <p:nvSpPr>
          <p:cNvPr id="9" name="Freeform 9"/>
          <p:cNvSpPr/>
          <p:nvPr/>
        </p:nvSpPr>
        <p:spPr>
          <a:xfrm flipV="1">
            <a:off x="15701453" y="-751242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9"/>
                </a:moveTo>
                <a:lnTo>
                  <a:pt x="4763917" y="2381959"/>
                </a:lnTo>
                <a:lnTo>
                  <a:pt x="4763917" y="0"/>
                </a:lnTo>
                <a:lnTo>
                  <a:pt x="0" y="0"/>
                </a:lnTo>
                <a:lnTo>
                  <a:pt x="0" y="23819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9174" y="8570340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0"/>
                </a:moveTo>
                <a:lnTo>
                  <a:pt x="4763917" y="0"/>
                </a:lnTo>
                <a:lnTo>
                  <a:pt x="4763917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6036382" y="-162279"/>
            <a:ext cx="4763917" cy="2381958"/>
          </a:xfrm>
          <a:custGeom>
            <a:avLst/>
            <a:gdLst/>
            <a:ahLst/>
            <a:cxnLst/>
            <a:rect l="l" t="t" r="r" b="b"/>
            <a:pathLst>
              <a:path w="4763917" h="2381958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63603" y="1028700"/>
            <a:ext cx="8360794" cy="4318224"/>
          </a:xfrm>
          <a:custGeom>
            <a:avLst/>
            <a:gdLst/>
            <a:ahLst/>
            <a:cxnLst/>
            <a:rect l="l" t="t" r="r" b="b"/>
            <a:pathLst>
              <a:path w="8360794" h="4318224">
                <a:moveTo>
                  <a:pt x="0" y="0"/>
                </a:moveTo>
                <a:lnTo>
                  <a:pt x="8360794" y="0"/>
                </a:lnTo>
                <a:lnTo>
                  <a:pt x="8360794" y="4318224"/>
                </a:lnTo>
                <a:lnTo>
                  <a:pt x="0" y="4318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578" b="-3490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73887" y="6163399"/>
            <a:ext cx="14140225" cy="157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44"/>
              </a:lnSpc>
            </a:pPr>
            <a:r>
              <a:rPr lang="en-US" sz="14400" b="1">
                <a:solidFill>
                  <a:srgbClr val="3779E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65755" y="7691971"/>
            <a:ext cx="995648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779E3"/>
                </a:solidFill>
                <a:latin typeface="Montserrat"/>
                <a:ea typeface="Montserrat"/>
                <a:cs typeface="Montserrat"/>
                <a:sym typeface="Montserrat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380</Words>
  <Application>Microsoft Office PowerPoint</Application>
  <PresentationFormat>Custom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Montserrat</vt:lpstr>
      <vt:lpstr>Montserrat Medium</vt:lpstr>
      <vt:lpstr>Montserrat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Purple Illustrative Simple Sales Report Presentation</dc:title>
  <dc:creator>Rizky</dc:creator>
  <cp:lastModifiedBy>rizky ratna sari</cp:lastModifiedBy>
  <cp:revision>1</cp:revision>
  <dcterms:created xsi:type="dcterms:W3CDTF">2006-08-16T00:00:00Z</dcterms:created>
  <dcterms:modified xsi:type="dcterms:W3CDTF">2025-12-18T04:44:41Z</dcterms:modified>
  <dc:identifier>DAG7qfwgdsM</dc:identifier>
</cp:coreProperties>
</file>